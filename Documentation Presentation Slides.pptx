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99" r:id="rId16"/>
    <p:sldId id="298" r:id="rId17"/>
    <p:sldId id="297" r:id="rId18"/>
    <p:sldId id="303" r:id="rId19"/>
    <p:sldId id="296" r:id="rId20"/>
    <p:sldId id="274" r:id="rId21"/>
    <p:sldId id="275" r:id="rId22"/>
    <p:sldId id="302" r:id="rId23"/>
    <p:sldId id="301" r:id="rId24"/>
    <p:sldId id="304" r:id="rId25"/>
    <p:sldId id="300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6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7672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400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DESIGN &amp;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94360" y="2331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BIT2154  |  Assignment 2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2788920"/>
            <a:ext cx="77724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067812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Network Architecture Design &amp; Implementation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 algn="l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2026 Semester</a:t>
            </a:r>
          </a:p>
          <a:p>
            <a:pPr marL="0" indent="0" algn="l">
              <a:buNone/>
            </a:pPr>
            <a:endParaRPr lang="en-US" sz="1400" dirty="0">
              <a:solidFill>
                <a:srgbClr val="A8C8E0"/>
              </a:solidFill>
              <a:latin typeface="Calibri" pitchFamily="34" charset="0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A8C8E0"/>
                </a:solidFill>
                <a:latin typeface="Calibri" pitchFamily="34" charset="0"/>
                <a:cs typeface="Calibri" pitchFamily="34" charset="-120"/>
              </a:rPr>
              <a:t>Name : Takrim Noor Hamim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A8C8E0"/>
                </a:solidFill>
                <a:latin typeface="Calibri" pitchFamily="34" charset="0"/>
                <a:cs typeface="Calibri" pitchFamily="34" charset="-120"/>
              </a:rPr>
              <a:t>Student ID: SUKD2501817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41148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Engineering, Built Environment and Information Technology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 of Information Technology (Hons)  |  SEGi University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INTRODUCTION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&amp; Overview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589520" y="91440"/>
            <a:ext cx="137160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0" y="91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BIT2154 | Network Design &amp; Architecture | Assignment 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2880" y="777240"/>
            <a:ext cx="420624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777240"/>
            <a:ext cx="420624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777240"/>
            <a:ext cx="64008" cy="4069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777240"/>
            <a:ext cx="64008" cy="4069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68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This Assignment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" y="1298448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assignment (Assignment 2) implements the physical network design from Assignment 1 (although I changed the design a little bit in packet tracer) into a fully functional logical network using Cisco Packet Tracer.
The network consists of </a:t>
            </a: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branches (A, B, C)</a:t>
            </a: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interconnected via serial WAN links, with each branch configured with VLANs, inter-VLAN routing, RIP v2 routing protocol, wireless access, and comprehensive security measures.</a:t>
            </a:r>
          </a:p>
          <a:p>
            <a:pPr marL="0" indent="0" algn="l">
              <a:buNone/>
            </a:pPr>
            <a:endParaRPr lang="en-US" sz="1300" dirty="0">
              <a:solidFill>
                <a:srgbClr val="0A1628"/>
              </a:solidFill>
              <a:latin typeface="Calibri" pitchFamily="34" charset="0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cs typeface="Calibri" pitchFamily="34" charset="-120"/>
              </a:rPr>
              <a:t>Don’t get confused by seeing the names of the router or switch in the configuration just see the headings of those cause I changes some names after the configuration.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868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Objectives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1298448"/>
            <a:ext cx="3840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Addressing &amp; Subnetting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unique subnets per VLAN per branch
</a:t>
            </a: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Configuration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10 (PCs), VLAN 20 (Server), VLAN 30 (Wi-Fi)
</a:t>
            </a: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Inter-VLAN Routing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Router-on-a-Stick (dot1Q subinterfaces)
</a:t>
            </a: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 Version 2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routing between all 3 branches
</a:t>
            </a: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passwords, banner, port security, unused port shutdown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NETWORK TOPOLOGY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Logical Network Diagram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Network Topology — Cisco Packet Tracer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589520" y="91440"/>
            <a:ext cx="137160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0" y="91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BIT2154 | Network Design &amp; Architecture | Assignment 2</a:t>
            </a:r>
            <a:endParaRPr lang="en-US" sz="900" dirty="0"/>
          </a:p>
        </p:txBody>
      </p:sp>
      <p:pic>
        <p:nvPicPr>
          <p:cNvPr id="9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0164" y="777240"/>
            <a:ext cx="6403671" cy="4023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28600" y="4785741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network topology showing Branch A , B, C connected via WAN serial links.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Addressing Scheme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589520" y="91440"/>
            <a:ext cx="137160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0" y="91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Config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BIT2154 | Network Design &amp; Architecture | Assignment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7315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Subnetting Plan — Per Branch, Per VLAN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1143000"/>
          <a:ext cx="7635240" cy="316992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Address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Subnet Mask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 (Router)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VLAN 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192.168.10.0/26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255.255.255.192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192.168.10.1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VLAN 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192.168.10.64/27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255.255.255.224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192.168.10.65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VLAN 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Wi-Fi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192.168.10.96/27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255.255.255.224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192.168.10.97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VLAN 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192.168.20.0/26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255.255.255.192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192.168.20.1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VLAN 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192.168.20.64/27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255.255.255.224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192.168.20.65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VLAN 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Wi-Fi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192.168.20.96/27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255.255.255.224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192.168.20.97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VLAN 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192.168.30.0/26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255.255.255.192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192.168.30.1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VLAN 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192.168.30.64/27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255.255.255.224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192.168.30.65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VLAN 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Wi-Fi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192.168.30.96/27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255.255.255.224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192.168.30.97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 A↔B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 Link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10.1.2.0/30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255.255.255.252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10.1.2.1 / 10.1.2.2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 A↔C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 Link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10.1.1.0/30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255.255.255.252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10.1.1.1 / 10.1.1.2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 B↔C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 Link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10.1.3.0/30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255.255.255.252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10.1.3.1 / 10.1.3.2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BRANCH A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Topology (Star and Bus)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A — Network Topology (Tree – Star and Bus)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589520" y="91440"/>
            <a:ext cx="137160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0" y="91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BIT2154 | Network Design &amp; Architecture | Assignment 2</a:t>
            </a:r>
            <a:endParaRPr lang="en-US" sz="900" dirty="0"/>
          </a:p>
        </p:txBody>
      </p:sp>
      <p:pic>
        <p:nvPicPr>
          <p:cNvPr id="9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86927" y="777240"/>
            <a:ext cx="5970146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A — Switch VLAN &amp; Trunk Configuration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589520" y="91440"/>
            <a:ext cx="137160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0" y="91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BIT2154 | Network Design &amp; Architecture | Assignment 2</a:t>
            </a:r>
            <a:endParaRPr lang="en-US" sz="900" dirty="0"/>
          </a:p>
        </p:txBody>
      </p:sp>
      <p:pic>
        <p:nvPicPr>
          <p:cNvPr id="9" name="Image 0" descr="/mnt/user-data/uploads/Branch_A_-_main_switch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160" y="777240"/>
            <a:ext cx="4389120" cy="4023360"/>
          </a:xfrm>
          <a:prstGeom prst="rect">
            <a:avLst/>
          </a:prstGeom>
        </p:spPr>
      </p:pic>
      <p:pic>
        <p:nvPicPr>
          <p:cNvPr id="10" name="Image 1" descr="/mnt/user-data/uploads/Branch_A_-_star_switch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17720" y="777240"/>
            <a:ext cx="4389120" cy="40233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28600" y="4702302"/>
            <a:ext cx="434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Switch (Switch0) — VLANs 10/20/30 created; fa0/1 &amp; fa4/1 set as trunk; </a:t>
            </a:r>
          </a:p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fa3/1=VLAN10 (Bus topology’s line); fa1/1=VLAN30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4709160" y="476402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Switch (Switch2) — fa4/1 as trunk; fa0/1=VLAN20; fa1/1, fa2/1, fa3/1=VLAN10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A — Router Inter-VLAN &amp; RIP v2 Configuration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589520" y="91440"/>
            <a:ext cx="137160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0" y="91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BIT2154 | Network Design &amp; Architecture | Assignment 2</a:t>
            </a:r>
            <a:endParaRPr lang="en-US" sz="900" dirty="0"/>
          </a:p>
        </p:txBody>
      </p:sp>
      <p:pic>
        <p:nvPicPr>
          <p:cNvPr id="9" name="Image 0" descr="/mnt/user-data/uploads/Branch_A_-_rout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160" y="777240"/>
            <a:ext cx="4389120" cy="4023360"/>
          </a:xfrm>
          <a:prstGeom prst="rect">
            <a:avLst/>
          </a:prstGeom>
        </p:spPr>
      </p:pic>
      <p:pic>
        <p:nvPicPr>
          <p:cNvPr id="10" name="Image 1" descr="/mnt/user-data/uploads/Branch_A_Router_RIP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17720" y="777240"/>
            <a:ext cx="4389120" cy="40233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59" y="4734306"/>
            <a:ext cx="4787265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Router1 — fa0/0 subinterfaces: VLAN10=192.168.10.1, VLAN20=192.168.10.65, VLAN30=192.168.10.97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4617719" y="4743450"/>
            <a:ext cx="4526281" cy="249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Router1 — RIP v2 configured: networks 10.0.0.0 &amp; 192.168.10.0, no auto-summary, serial WAN IPs assigned.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A — Port Security &amp; Unused Port Shutdown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589520" y="91440"/>
            <a:ext cx="137160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0" y="91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BIT2154 | Network Design &amp; Architecture | Assignment 2</a:t>
            </a:r>
            <a:endParaRPr lang="en-US" sz="900" dirty="0"/>
          </a:p>
        </p:txBody>
      </p:sp>
      <p:pic>
        <p:nvPicPr>
          <p:cNvPr id="9" name="Image 0" descr="/mnt/user-data/uploads/Branch_A_-_main_switch_port_securit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160" y="777240"/>
            <a:ext cx="4389120" cy="4023360"/>
          </a:xfrm>
          <a:prstGeom prst="rect">
            <a:avLst/>
          </a:prstGeom>
        </p:spPr>
      </p:pic>
      <p:pic>
        <p:nvPicPr>
          <p:cNvPr id="10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23446" y="777240"/>
            <a:ext cx="4377667" cy="40233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50104" y="4765548"/>
            <a:ext cx="3739516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security: max MAC=1, violation=restrict, sticky MAC on fa1/1, fa3/1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79070" y="476402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Unused ports (fa2/1, fa5/1) shut down to prevent unauthorized access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A — Router Security Configuration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589520" y="91440"/>
            <a:ext cx="137160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0" y="91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BIT2154 | Network Design &amp; Architecture | Assignment 2</a:t>
            </a:r>
            <a:endParaRPr lang="en-US" sz="900" dirty="0"/>
          </a:p>
        </p:txBody>
      </p:sp>
      <p:pic>
        <p:nvPicPr>
          <p:cNvPr id="9" name="Image 0" descr="/mnt/user-data/uploads/Branch_A_Router_Securit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777240"/>
            <a:ext cx="7894320" cy="4023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28600" y="48006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Router1 security: enable secret, console password, VTY (telnet) password (cisco123), banner MOTD, service password-encryption all configured.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BRANCH B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Topology (Mesh and Star)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B — Network Topology (Hybrid – Mesh and Star)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589520" y="91440"/>
            <a:ext cx="137160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0" y="91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B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BIT2154 | Network Design &amp; Architecture | Assignment 2</a:t>
            </a:r>
            <a:endParaRPr lang="en-US" sz="900" dirty="0"/>
          </a:p>
        </p:txBody>
      </p:sp>
      <p:pic>
        <p:nvPicPr>
          <p:cNvPr id="9" name="Image 0"/>
          <p:cNvPicPr>
            <a:picLocks noChangeAspect="1"/>
          </p:cNvPicPr>
          <p:nvPr/>
        </p:nvPicPr>
        <p:blipFill>
          <a:blip r:embed="rId3"/>
          <a:srcRect r="10942"/>
          <a:stretch>
            <a:fillRect/>
          </a:stretch>
        </p:blipFill>
        <p:spPr>
          <a:xfrm>
            <a:off x="106707" y="804672"/>
            <a:ext cx="5798793" cy="402336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D7448DF-0BAC-1AA1-43E8-072D2DF89F9C}"/>
              </a:ext>
            </a:extLst>
          </p:cNvPr>
          <p:cNvSpPr txBox="1"/>
          <p:nvPr/>
        </p:nvSpPr>
        <p:spPr>
          <a:xfrm>
            <a:off x="5970772" y="2088040"/>
            <a:ext cx="289700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2800" b="1" dirty="0">
                <a:latin typeface="Calibri" pitchFamily="34" charset="0"/>
                <a:cs typeface="Calibri" pitchFamily="34" charset="-120"/>
              </a:rPr>
              <a:t>Also Did the same </a:t>
            </a:r>
          </a:p>
          <a:p>
            <a:pPr marL="0" indent="0" algn="l">
              <a:buNone/>
            </a:pPr>
            <a:r>
              <a:rPr lang="en-US" sz="2800" b="1" dirty="0">
                <a:latin typeface="Calibri" pitchFamily="34" charset="0"/>
                <a:cs typeface="Calibri" pitchFamily="34" charset="-120"/>
              </a:rPr>
              <a:t>configurations for</a:t>
            </a:r>
          </a:p>
          <a:p>
            <a:pPr marL="0" indent="0" algn="l">
              <a:buNone/>
            </a:pPr>
            <a:r>
              <a:rPr lang="en-US" sz="2800" b="1" dirty="0">
                <a:latin typeface="Calibri" pitchFamily="34" charset="0"/>
                <a:cs typeface="Calibri" pitchFamily="34" charset="-120"/>
              </a:rPr>
              <a:t>Branch 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0"/>
            <a:ext cx="6858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Calibri"/>
              </a:rPr>
              <a:t>Branch B — Switch VLAN &amp; Trunk Configuration (Main &amp; Top Mesh Switches)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8600" y="4983480"/>
            <a:ext cx="7315200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8CA8"/>
                </a:solidFill>
                <a:latin typeface="Calibri"/>
              </a:rPr>
              <a:t>BIT2154 | Network Design &amp; Architecture | Assignment 2</a:t>
            </a:r>
          </a:p>
        </p:txBody>
      </p:sp>
      <p:pic>
        <p:nvPicPr>
          <p:cNvPr id="9" name="Picture 8" descr="Branch_B_-_main_swi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749808"/>
            <a:ext cx="4343400" cy="4041648"/>
          </a:xfrm>
          <a:prstGeom prst="rect">
            <a:avLst/>
          </a:prstGeom>
        </p:spPr>
      </p:pic>
      <p:pic>
        <p:nvPicPr>
          <p:cNvPr id="10" name="Picture 9" descr="Branch_B_-_top_mesh_swi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749808"/>
            <a:ext cx="4343400" cy="40416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7160" y="4649929"/>
            <a:ext cx="3549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 dirty="0">
                <a:solidFill>
                  <a:srgbClr val="64748B"/>
                </a:solidFill>
                <a:latin typeface="Calibri"/>
              </a:rPr>
              <a:t>Main Switch (Switch3) — VLANs 10/20/30 created; fa0/1 &amp; fa1/1 trunk; </a:t>
            </a:r>
            <a:endParaRPr lang="en-GB" sz="900" i="1" dirty="0">
              <a:solidFill>
                <a:srgbClr val="64748B"/>
              </a:solidFill>
              <a:latin typeface="Calibri"/>
            </a:endParaRPr>
          </a:p>
          <a:p>
            <a:r>
              <a:rPr sz="900" i="1" dirty="0">
                <a:solidFill>
                  <a:srgbClr val="64748B"/>
                </a:solidFill>
                <a:latin typeface="Calibri"/>
              </a:rPr>
              <a:t>fa2/1=VLAN30 (Access Point); fa3/1, fa6/1=VLAN10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757862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 dirty="0">
                <a:solidFill>
                  <a:srgbClr val="64748B"/>
                </a:solidFill>
                <a:latin typeface="Calibri"/>
              </a:rPr>
              <a:t>Top Mesh Switch (Switch4) — fa0/1, fa1/1, fa2/1 all set as trunk ports (mesh interconnects)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0"/>
            <a:ext cx="6858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Calibri"/>
              </a:rPr>
              <a:t>Branch B — Switch VLAN &amp; Trunk Configuration (Left &amp; Right Mesh Switches)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8600" y="4983480"/>
            <a:ext cx="7315200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8CA8"/>
                </a:solidFill>
                <a:latin typeface="Calibri"/>
              </a:rPr>
              <a:t>BIT2154 | Network Design &amp; Architecture | Assignment 2</a:t>
            </a:r>
          </a:p>
        </p:txBody>
      </p:sp>
      <p:pic>
        <p:nvPicPr>
          <p:cNvPr id="9" name="Picture 8" descr="Branch_B_-_left_mesh_swi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749808"/>
            <a:ext cx="4343400" cy="4041648"/>
          </a:xfrm>
          <a:prstGeom prst="rect">
            <a:avLst/>
          </a:prstGeom>
        </p:spPr>
      </p:pic>
      <p:pic>
        <p:nvPicPr>
          <p:cNvPr id="10" name="Picture 9" descr="Branch_B_-_right_mesh_swi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749808"/>
            <a:ext cx="4343400" cy="40416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7160" y="4641580"/>
            <a:ext cx="256672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 dirty="0">
                <a:solidFill>
                  <a:srgbClr val="64748B"/>
                </a:solidFill>
                <a:latin typeface="Calibri"/>
              </a:rPr>
              <a:t>Left Mesh Switch (Switch5) — fa0/1 &amp; fa1/1 trunk; </a:t>
            </a:r>
            <a:endParaRPr lang="en-GB" sz="900" i="1" dirty="0">
              <a:solidFill>
                <a:srgbClr val="64748B"/>
              </a:solidFill>
              <a:latin typeface="Calibri"/>
            </a:endParaRPr>
          </a:p>
          <a:p>
            <a:r>
              <a:rPr sz="900" i="1" dirty="0">
                <a:solidFill>
                  <a:srgbClr val="64748B"/>
                </a:solidFill>
                <a:latin typeface="Calibri"/>
              </a:rPr>
              <a:t>fa2/1=VLAN20 (Server); fa3/1, fa6/1=VLAN10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750308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 dirty="0">
                <a:solidFill>
                  <a:srgbClr val="64748B"/>
                </a:solidFill>
                <a:latin typeface="Calibri"/>
              </a:rPr>
              <a:t>Right Mesh Switch (Switch6) — fa0/1 &amp; fa1/1 trunk; fa2/1, fa3/1, fa6/1, fa7/1=VLAN10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0"/>
            <a:ext cx="6858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Calibri"/>
              </a:rPr>
              <a:t>Branch B — Router Inter-VLAN &amp; RIP v2 Configuration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0" y="91440"/>
            <a:ext cx="1371600" cy="411480"/>
          </a:xfrm>
          <a:prstGeom prst="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0" y="91440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Branch B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8600" y="4983480"/>
            <a:ext cx="7315200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8CA8"/>
                </a:solidFill>
                <a:latin typeface="Calibri"/>
              </a:rPr>
              <a:t>BIT2154 | Network Design &amp; Architecture | Assignment 2</a:t>
            </a:r>
          </a:p>
        </p:txBody>
      </p:sp>
      <p:pic>
        <p:nvPicPr>
          <p:cNvPr id="9" name="Picture 8" descr="Branch_B_-_rou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749808"/>
            <a:ext cx="4343400" cy="4041648"/>
          </a:xfrm>
          <a:prstGeom prst="rect">
            <a:avLst/>
          </a:prstGeom>
        </p:spPr>
      </p:pic>
      <p:pic>
        <p:nvPicPr>
          <p:cNvPr id="10" name="Picture 9" descr="Branch_B_Router_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749808"/>
            <a:ext cx="4343400" cy="40416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7159" y="4672358"/>
            <a:ext cx="4236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 dirty="0">
                <a:solidFill>
                  <a:srgbClr val="64748B"/>
                </a:solidFill>
                <a:latin typeface="Calibri"/>
              </a:rPr>
              <a:t>Router2 — fa0/0 </a:t>
            </a:r>
            <a:r>
              <a:rPr sz="900" i="1" dirty="0" err="1">
                <a:solidFill>
                  <a:srgbClr val="64748B"/>
                </a:solidFill>
                <a:latin typeface="Calibri"/>
              </a:rPr>
              <a:t>subinterfaces</a:t>
            </a:r>
            <a:r>
              <a:rPr sz="900" i="1" dirty="0">
                <a:solidFill>
                  <a:srgbClr val="64748B"/>
                </a:solidFill>
                <a:latin typeface="Calibri"/>
              </a:rPr>
              <a:t>: VLAN10=192.168.20.1, </a:t>
            </a:r>
            <a:r>
              <a:rPr lang="en-GB" sz="90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i="1" dirty="0">
                <a:solidFill>
                  <a:srgbClr val="64748B"/>
                </a:solidFill>
                <a:latin typeface="Calibri"/>
              </a:rPr>
              <a:t>VLAN20=192.168.20.65, VLAN30=192.168.20.97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721286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 dirty="0">
                <a:solidFill>
                  <a:srgbClr val="64748B"/>
                </a:solidFill>
                <a:latin typeface="Calibri"/>
              </a:rPr>
              <a:t>Router2 — RIP v2: networks 10.0.0.0 &amp; 192.168.20.0, serial3/0=10.1.1.2, serial2/0=10.1.3.1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0"/>
            <a:ext cx="6858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Calibri"/>
              </a:rPr>
              <a:t>Branch B — Port Security &amp; Unused Port Shutdown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0" y="91440"/>
            <a:ext cx="1371600" cy="411480"/>
          </a:xfrm>
          <a:prstGeom prst="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0" y="91440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Branch B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8600" y="4983480"/>
            <a:ext cx="7315200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8CA8"/>
                </a:solidFill>
                <a:latin typeface="Calibri"/>
              </a:rPr>
              <a:t>BIT2154 | Network Design &amp; Architecture | Assignment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749808"/>
            <a:ext cx="3474720" cy="35661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40680" y="749808"/>
            <a:ext cx="64008" cy="3566160"/>
          </a:xfrm>
          <a:prstGeom prst="rect">
            <a:avLst/>
          </a:prstGeom>
          <a:solidFill>
            <a:srgbClr val="F4A261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77840" y="822960"/>
            <a:ext cx="3246120" cy="3180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16A34A"/>
                </a:solidFill>
                <a:latin typeface="Calibri"/>
              </a:rPr>
              <a:t>✅  What Was Done</a:t>
            </a:r>
          </a:p>
          <a:p>
            <a:pPr>
              <a:spcBef>
                <a:spcPts val="400"/>
              </a:spcBef>
            </a:pPr>
            <a:r>
              <a:rPr sz="1100" b="0" dirty="0">
                <a:latin typeface="Calibri"/>
              </a:rPr>
              <a:t>Same port security configuration applied as Branch A:</a:t>
            </a:r>
          </a:p>
          <a:p>
            <a:pPr>
              <a:spcBef>
                <a:spcPts val="0"/>
              </a:spcBef>
            </a:pPr>
            <a:r>
              <a:rPr sz="1050" b="0" dirty="0">
                <a:latin typeface="Calibri"/>
              </a:rPr>
              <a:t>  • switchport mode access</a:t>
            </a:r>
          </a:p>
          <a:p>
            <a:pPr>
              <a:spcBef>
                <a:spcPts val="0"/>
              </a:spcBef>
            </a:pPr>
            <a:r>
              <a:rPr sz="1050" b="0" dirty="0">
                <a:latin typeface="Calibri"/>
              </a:rPr>
              <a:t>  • switchport port-security</a:t>
            </a:r>
          </a:p>
          <a:p>
            <a:pPr>
              <a:spcBef>
                <a:spcPts val="0"/>
              </a:spcBef>
            </a:pPr>
            <a:r>
              <a:rPr sz="1050" b="0" dirty="0">
                <a:latin typeface="Calibri"/>
              </a:rPr>
              <a:t>  • port-security maximum 1</a:t>
            </a:r>
          </a:p>
          <a:p>
            <a:pPr>
              <a:spcBef>
                <a:spcPts val="0"/>
              </a:spcBef>
            </a:pPr>
            <a:r>
              <a:rPr sz="1050" b="0" dirty="0">
                <a:latin typeface="Calibri"/>
              </a:rPr>
              <a:t>  • violation restrict</a:t>
            </a:r>
          </a:p>
          <a:p>
            <a:pPr>
              <a:spcBef>
                <a:spcPts val="0"/>
              </a:spcBef>
            </a:pPr>
            <a:r>
              <a:rPr sz="1050" b="0" dirty="0">
                <a:latin typeface="Calibri"/>
              </a:rPr>
              <a:t>  • mac-address sticky</a:t>
            </a:r>
          </a:p>
          <a:p>
            <a:pPr>
              <a:spcBef>
                <a:spcPts val="0"/>
              </a:spcBef>
            </a:pPr>
            <a:r>
              <a:rPr sz="1050" b="0" dirty="0">
                <a:latin typeface="Calibri"/>
              </a:rPr>
              <a:t>  • Unused ports shut down</a:t>
            </a:r>
          </a:p>
          <a:p>
            <a:pPr>
              <a:spcBef>
                <a:spcPts val="800"/>
              </a:spcBef>
            </a:pPr>
            <a:r>
              <a:rPr sz="1200" b="1" dirty="0">
                <a:solidFill>
                  <a:srgbClr val="DC2626"/>
                </a:solidFill>
                <a:latin typeface="Calibri"/>
              </a:rPr>
              <a:t>⚠️  Problem Encountered</a:t>
            </a:r>
          </a:p>
          <a:p>
            <a:pPr>
              <a:spcBef>
                <a:spcPts val="300"/>
              </a:spcBef>
            </a:pPr>
            <a:r>
              <a:rPr sz="1050" b="0" dirty="0">
                <a:latin typeface="Calibri"/>
              </a:rPr>
              <a:t>Initially, port security was accidentally applied to trunk ports </a:t>
            </a:r>
            <a:r>
              <a:rPr lang="en-GB" sz="1050" dirty="0">
                <a:latin typeface="Calibri"/>
              </a:rPr>
              <a:t>also</a:t>
            </a:r>
            <a:r>
              <a:rPr sz="1050" b="0" dirty="0">
                <a:latin typeface="Calibri"/>
              </a:rPr>
              <a:t>. This caused ping failures between VLANs as trunk ports should not have port-security. The fix was to remove port-security from trunk ports and apply it only to access ports.</a:t>
            </a:r>
          </a:p>
          <a:p>
            <a:pPr>
              <a:spcBef>
                <a:spcPts val="600"/>
              </a:spcBef>
            </a:pPr>
            <a:r>
              <a:rPr sz="1100" b="1" dirty="0">
                <a:solidFill>
                  <a:srgbClr val="64748B"/>
                </a:solidFill>
                <a:latin typeface="Calibri"/>
              </a:rPr>
              <a:t>📷  Note</a:t>
            </a:r>
          </a:p>
          <a:p>
            <a:pPr>
              <a:spcBef>
                <a:spcPts val="200"/>
              </a:spcBef>
            </a:pPr>
            <a:r>
              <a:rPr sz="1000" b="0" dirty="0">
                <a:latin typeface="Calibri"/>
              </a:rPr>
              <a:t>Screenshot of the corrected configuration was not captured at the time of fixing.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D74441-F826-834D-2687-29AD9C3A9BAD}"/>
              </a:ext>
            </a:extLst>
          </p:cNvPr>
          <p:cNvSpPr/>
          <p:nvPr/>
        </p:nvSpPr>
        <p:spPr>
          <a:xfrm>
            <a:off x="320039" y="945518"/>
            <a:ext cx="4878125" cy="32116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F1542E-C36A-30F3-C3FC-55DF03CEBE23}"/>
              </a:ext>
            </a:extLst>
          </p:cNvPr>
          <p:cNvSpPr txBox="1"/>
          <p:nvPr/>
        </p:nvSpPr>
        <p:spPr>
          <a:xfrm>
            <a:off x="1827808" y="2160785"/>
            <a:ext cx="223729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0" dirty="0">
                <a:solidFill>
                  <a:schemeClr val="bg1">
                    <a:lumMod val="95000"/>
                  </a:schemeClr>
                </a:solidFill>
                <a:latin typeface="Calibri"/>
              </a:rPr>
              <a:t>Missing</a:t>
            </a:r>
          </a:p>
          <a:p>
            <a:r>
              <a:rPr lang="en-GB" sz="2800" dirty="0">
                <a:solidFill>
                  <a:schemeClr val="bg1">
                    <a:lumMod val="95000"/>
                  </a:schemeClr>
                </a:solidFill>
                <a:latin typeface="Calibri"/>
              </a:rPr>
              <a:t>Screenshot</a:t>
            </a:r>
            <a:endParaRPr lang="en-GB" sz="28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0"/>
            <a:ext cx="6858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Calibri"/>
              </a:rPr>
              <a:t>Branch B — Router Security Configuration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0" y="91440"/>
            <a:ext cx="1371600" cy="411480"/>
          </a:xfrm>
          <a:prstGeom prst="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0" y="91440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Branch B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8600" y="4983480"/>
            <a:ext cx="7315200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8CA8"/>
                </a:solidFill>
                <a:latin typeface="Calibri"/>
              </a:rPr>
              <a:t>BIT2154 | Network Design &amp; Architecture | Assignment 2</a:t>
            </a:r>
          </a:p>
        </p:txBody>
      </p:sp>
      <p:pic>
        <p:nvPicPr>
          <p:cNvPr id="9" name="Picture 8" descr="Branch_B_Router_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708660"/>
            <a:ext cx="7406640" cy="40416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44217" y="472287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 dirty="0">
                <a:solidFill>
                  <a:srgbClr val="64748B"/>
                </a:solidFill>
                <a:latin typeface="Calibri"/>
              </a:rPr>
              <a:t>Router2 security: enable secret, console password, VTY password (cisco123), banner MOTD 'Unauthorized Access is Prohibited!', service password-encryption.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BRANCH C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Topology – Bus and Ring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C — Network Topology (Ring)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589520" y="91440"/>
            <a:ext cx="137160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0" y="91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BIT2154 | Network Design &amp; Architecture | Assignment 2</a:t>
            </a:r>
            <a:endParaRPr lang="en-US" sz="900" dirty="0"/>
          </a:p>
        </p:txBody>
      </p:sp>
      <p:pic>
        <p:nvPicPr>
          <p:cNvPr id="9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496" y="713232"/>
            <a:ext cx="5564602" cy="402336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941B07F-74DC-D8A6-5F90-40BDB1B16D38}"/>
              </a:ext>
            </a:extLst>
          </p:cNvPr>
          <p:cNvSpPr txBox="1"/>
          <p:nvPr/>
        </p:nvSpPr>
        <p:spPr>
          <a:xfrm>
            <a:off x="5933373" y="1977550"/>
            <a:ext cx="289700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2800" b="1" dirty="0">
                <a:latin typeface="Calibri" pitchFamily="34" charset="0"/>
                <a:cs typeface="Calibri" pitchFamily="34" charset="-120"/>
              </a:rPr>
              <a:t>Also Did the</a:t>
            </a:r>
          </a:p>
          <a:p>
            <a:pPr marL="0" indent="0" algn="l">
              <a:buNone/>
            </a:pPr>
            <a:r>
              <a:rPr lang="en-US" sz="2800" b="1" dirty="0">
                <a:latin typeface="Calibri" pitchFamily="34" charset="0"/>
                <a:cs typeface="Calibri" pitchFamily="34" charset="-120"/>
              </a:rPr>
              <a:t>configurations for</a:t>
            </a:r>
          </a:p>
          <a:p>
            <a:pPr marL="0" indent="0" algn="l">
              <a:buNone/>
            </a:pPr>
            <a:r>
              <a:rPr lang="en-US" sz="2800" b="1" dirty="0">
                <a:latin typeface="Calibri" pitchFamily="34" charset="0"/>
                <a:cs typeface="Calibri" pitchFamily="34" charset="-120"/>
              </a:rPr>
              <a:t>Branch C</a:t>
            </a:r>
          </a:p>
          <a:p>
            <a:pPr marL="0" indent="0" algn="l">
              <a:buNone/>
            </a:pPr>
            <a:r>
              <a:rPr lang="en-US" sz="2800" b="1" dirty="0">
                <a:latin typeface="Calibri" pitchFamily="34" charset="0"/>
                <a:cs typeface="Calibri" pitchFamily="34" charset="-120"/>
              </a:rPr>
              <a:t>(Same way)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0"/>
            <a:ext cx="6858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Calibri"/>
              </a:rPr>
              <a:t>Branch C — Switch VLAN &amp; Trunk Configuration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0" y="91440"/>
            <a:ext cx="1371600" cy="411480"/>
          </a:xfrm>
          <a:prstGeom prst="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0" y="91440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Branch C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8600" y="4983480"/>
            <a:ext cx="7315200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8CA8"/>
                </a:solidFill>
                <a:latin typeface="Calibri"/>
              </a:rPr>
              <a:t>BIT2154 | Network Design &amp; Architecture | Assignment 2</a:t>
            </a:r>
          </a:p>
        </p:txBody>
      </p:sp>
      <p:pic>
        <p:nvPicPr>
          <p:cNvPr id="9" name="Picture 8" descr="Branch_C_-_main_swi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749808"/>
            <a:ext cx="4343400" cy="4041648"/>
          </a:xfrm>
          <a:prstGeom prst="rect">
            <a:avLst/>
          </a:prstGeom>
        </p:spPr>
      </p:pic>
      <p:pic>
        <p:nvPicPr>
          <p:cNvPr id="10" name="Picture 9" descr="Branch_C_-_top_ring_swi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749808"/>
            <a:ext cx="4343400" cy="40416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7160" y="4614148"/>
            <a:ext cx="324159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 dirty="0">
                <a:solidFill>
                  <a:srgbClr val="64748B"/>
                </a:solidFill>
                <a:latin typeface="Calibri"/>
              </a:rPr>
              <a:t>Main Switch (Switch7/9) — VLANs 10/20/30 created; fa0/1 trunk;</a:t>
            </a:r>
            <a:endParaRPr lang="en-GB" sz="900" i="1" dirty="0">
              <a:solidFill>
                <a:srgbClr val="64748B"/>
              </a:solidFill>
              <a:latin typeface="Calibri"/>
            </a:endParaRPr>
          </a:p>
          <a:p>
            <a:r>
              <a:rPr sz="900" i="1" dirty="0">
                <a:solidFill>
                  <a:srgbClr val="64748B"/>
                </a:solidFill>
                <a:latin typeface="Calibri"/>
              </a:rPr>
              <a:t>fa3/1=VLAN20 (Server); fa0/1, fa1/1=VLAN10; fa6/1=VLAN30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658868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 dirty="0">
                <a:solidFill>
                  <a:srgbClr val="64748B"/>
                </a:solidFill>
                <a:latin typeface="Calibri"/>
              </a:rPr>
              <a:t>Top Ring Switch — fa2/1 trunk; fa3/1=VLAN20 (Server); fa0/1, fa1/1=VLAN10 PCs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0"/>
            <a:ext cx="6858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Calibri"/>
              </a:rPr>
              <a:t>Branch C — Router Inter-VLAN &amp; RIP v2 Configuration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0" y="91440"/>
            <a:ext cx="1371600" cy="411480"/>
          </a:xfrm>
          <a:prstGeom prst="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0" y="91440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Branch C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8600" y="4983480"/>
            <a:ext cx="7315200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8CA8"/>
                </a:solidFill>
                <a:latin typeface="Calibri"/>
              </a:rPr>
              <a:t>BIT2154 | Network Design &amp; Architecture | Assignment 2</a:t>
            </a:r>
          </a:p>
        </p:txBody>
      </p:sp>
      <p:pic>
        <p:nvPicPr>
          <p:cNvPr id="9" name="Picture 8" descr="Branch_C_-_rou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749808"/>
            <a:ext cx="4343400" cy="4041648"/>
          </a:xfrm>
          <a:prstGeom prst="rect">
            <a:avLst/>
          </a:prstGeom>
        </p:spPr>
      </p:pic>
      <p:pic>
        <p:nvPicPr>
          <p:cNvPr id="10" name="Picture 9" descr="Branch_C_Router_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749808"/>
            <a:ext cx="4343400" cy="40416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7160" y="4618913"/>
            <a:ext cx="276229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 dirty="0">
                <a:solidFill>
                  <a:srgbClr val="64748B"/>
                </a:solidFill>
                <a:latin typeface="Calibri"/>
              </a:rPr>
              <a:t>Router3 — fa0/0 </a:t>
            </a:r>
            <a:r>
              <a:rPr sz="900" i="1" dirty="0" err="1">
                <a:solidFill>
                  <a:srgbClr val="64748B"/>
                </a:solidFill>
                <a:latin typeface="Calibri"/>
              </a:rPr>
              <a:t>subinterfaces</a:t>
            </a:r>
            <a:r>
              <a:rPr sz="900" i="1" dirty="0">
                <a:solidFill>
                  <a:srgbClr val="64748B"/>
                </a:solidFill>
                <a:latin typeface="Calibri"/>
              </a:rPr>
              <a:t>: VLAN10=192.168.30.1, </a:t>
            </a:r>
            <a:endParaRPr lang="en-GB" sz="900" i="1" dirty="0">
              <a:solidFill>
                <a:srgbClr val="64748B"/>
              </a:solidFill>
              <a:latin typeface="Calibri"/>
            </a:endParaRPr>
          </a:p>
          <a:p>
            <a:r>
              <a:rPr sz="900" i="1" dirty="0">
                <a:solidFill>
                  <a:srgbClr val="64748B"/>
                </a:solidFill>
                <a:latin typeface="Calibri"/>
              </a:rPr>
              <a:t>VLAN20=192.168.30.65, VLAN30=192.168.30.97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736592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 dirty="0">
                <a:solidFill>
                  <a:srgbClr val="64748B"/>
                </a:solidFill>
                <a:latin typeface="Calibri"/>
              </a:rPr>
              <a:t>Router3 — RIP v2: networks 10.0.0.0 &amp; 192.168.30.0, serial2/0=10.1.2.2, serial3/0=10.1.3.2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0"/>
            <a:ext cx="6858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Calibri"/>
              </a:rPr>
              <a:t>Branch C — Port Security &amp; Unused Port Shutdown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0" y="91440"/>
            <a:ext cx="1371600" cy="411480"/>
          </a:xfrm>
          <a:prstGeom prst="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0" y="91440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Branch C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8600" y="4983480"/>
            <a:ext cx="7315200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8CA8"/>
                </a:solidFill>
                <a:latin typeface="Calibri"/>
              </a:rPr>
              <a:t>BIT2154 | Network Design &amp; Architecture | Assignment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749808"/>
            <a:ext cx="3474720" cy="35661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40680" y="749808"/>
            <a:ext cx="64008" cy="3566160"/>
          </a:xfrm>
          <a:prstGeom prst="rect">
            <a:avLst/>
          </a:prstGeom>
          <a:solidFill>
            <a:srgbClr val="F4A261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77840" y="822960"/>
            <a:ext cx="3246120" cy="3180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16A34A"/>
                </a:solidFill>
                <a:latin typeface="Calibri"/>
              </a:rPr>
              <a:t>✅  What Was Done</a:t>
            </a:r>
          </a:p>
          <a:p>
            <a:pPr>
              <a:spcBef>
                <a:spcPts val="400"/>
              </a:spcBef>
            </a:pPr>
            <a:r>
              <a:rPr sz="1100" b="0" dirty="0">
                <a:latin typeface="Calibri"/>
              </a:rPr>
              <a:t>Same port security configuration applied as Branch A:</a:t>
            </a:r>
          </a:p>
          <a:p>
            <a:pPr>
              <a:spcBef>
                <a:spcPts val="0"/>
              </a:spcBef>
            </a:pPr>
            <a:r>
              <a:rPr sz="1050" b="0" dirty="0">
                <a:latin typeface="Calibri"/>
              </a:rPr>
              <a:t>  • switchport mode access</a:t>
            </a:r>
          </a:p>
          <a:p>
            <a:pPr>
              <a:spcBef>
                <a:spcPts val="0"/>
              </a:spcBef>
            </a:pPr>
            <a:r>
              <a:rPr sz="1050" b="0" dirty="0">
                <a:latin typeface="Calibri"/>
              </a:rPr>
              <a:t>  • switchport port-security</a:t>
            </a:r>
          </a:p>
          <a:p>
            <a:pPr>
              <a:spcBef>
                <a:spcPts val="0"/>
              </a:spcBef>
            </a:pPr>
            <a:r>
              <a:rPr sz="1050" b="0" dirty="0">
                <a:latin typeface="Calibri"/>
              </a:rPr>
              <a:t>  • port-security maximum 1</a:t>
            </a:r>
          </a:p>
          <a:p>
            <a:pPr>
              <a:spcBef>
                <a:spcPts val="0"/>
              </a:spcBef>
            </a:pPr>
            <a:r>
              <a:rPr sz="1050" b="0" dirty="0">
                <a:latin typeface="Calibri"/>
              </a:rPr>
              <a:t>  • violation restrict</a:t>
            </a:r>
          </a:p>
          <a:p>
            <a:pPr>
              <a:spcBef>
                <a:spcPts val="0"/>
              </a:spcBef>
            </a:pPr>
            <a:r>
              <a:rPr sz="1050" b="0" dirty="0">
                <a:latin typeface="Calibri"/>
              </a:rPr>
              <a:t>  • mac-address sticky</a:t>
            </a:r>
          </a:p>
          <a:p>
            <a:pPr>
              <a:spcBef>
                <a:spcPts val="0"/>
              </a:spcBef>
            </a:pPr>
            <a:r>
              <a:rPr sz="1050" b="0" dirty="0">
                <a:latin typeface="Calibri"/>
              </a:rPr>
              <a:t>  • Unused ports shut down</a:t>
            </a:r>
          </a:p>
          <a:p>
            <a:pPr>
              <a:spcBef>
                <a:spcPts val="800"/>
              </a:spcBef>
            </a:pPr>
            <a:r>
              <a:rPr sz="1200" b="1" dirty="0">
                <a:solidFill>
                  <a:srgbClr val="DC2626"/>
                </a:solidFill>
                <a:latin typeface="Calibri"/>
              </a:rPr>
              <a:t>⚠️  Problem Encountered</a:t>
            </a:r>
          </a:p>
          <a:p>
            <a:pPr>
              <a:spcBef>
                <a:spcPts val="300"/>
              </a:spcBef>
            </a:pPr>
            <a:r>
              <a:rPr sz="1050" b="0" dirty="0">
                <a:latin typeface="Calibri"/>
              </a:rPr>
              <a:t>Initially, port security was accidentally applied to trunk ports </a:t>
            </a:r>
            <a:r>
              <a:rPr lang="en-GB" sz="1050" dirty="0">
                <a:latin typeface="Calibri"/>
              </a:rPr>
              <a:t>also</a:t>
            </a:r>
            <a:r>
              <a:rPr sz="1050" b="0" dirty="0">
                <a:latin typeface="Calibri"/>
              </a:rPr>
              <a:t>. This caused ping failures between VLANs as trunk ports should not have port-security. The fix was to remove port-security from trunk ports and apply it only to access ports.</a:t>
            </a:r>
          </a:p>
          <a:p>
            <a:pPr>
              <a:spcBef>
                <a:spcPts val="600"/>
              </a:spcBef>
            </a:pPr>
            <a:r>
              <a:rPr sz="1100" b="1" dirty="0">
                <a:solidFill>
                  <a:srgbClr val="64748B"/>
                </a:solidFill>
                <a:latin typeface="Calibri"/>
              </a:rPr>
              <a:t>📷  Note</a:t>
            </a:r>
          </a:p>
          <a:p>
            <a:pPr>
              <a:spcBef>
                <a:spcPts val="200"/>
              </a:spcBef>
            </a:pPr>
            <a:r>
              <a:rPr sz="1000" b="0" dirty="0">
                <a:latin typeface="Calibri"/>
              </a:rPr>
              <a:t>Screenshot of the corrected configuration was not captured at the time of fixing.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F488FB-989F-79AF-E203-7E861D383BBC}"/>
              </a:ext>
            </a:extLst>
          </p:cNvPr>
          <p:cNvSpPr/>
          <p:nvPr/>
        </p:nvSpPr>
        <p:spPr>
          <a:xfrm>
            <a:off x="320040" y="934676"/>
            <a:ext cx="4880113" cy="31964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869E31-7D86-0470-3EE3-0B6950A9943A}"/>
              </a:ext>
            </a:extLst>
          </p:cNvPr>
          <p:cNvSpPr txBox="1"/>
          <p:nvPr/>
        </p:nvSpPr>
        <p:spPr>
          <a:xfrm>
            <a:off x="1827808" y="2014686"/>
            <a:ext cx="223729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0" dirty="0">
                <a:solidFill>
                  <a:schemeClr val="bg1">
                    <a:lumMod val="95000"/>
                  </a:schemeClr>
                </a:solidFill>
                <a:latin typeface="Calibri"/>
              </a:rPr>
              <a:t>Missing</a:t>
            </a:r>
          </a:p>
          <a:p>
            <a:r>
              <a:rPr lang="en-GB" sz="2800" dirty="0">
                <a:solidFill>
                  <a:schemeClr val="bg1">
                    <a:lumMod val="95000"/>
                  </a:schemeClr>
                </a:solidFill>
                <a:latin typeface="Calibri"/>
              </a:rPr>
              <a:t>Screenshot</a:t>
            </a:r>
            <a:endParaRPr lang="en-GB" sz="28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0"/>
            <a:ext cx="6858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Calibri"/>
              </a:rPr>
              <a:t>Branch C — Router Security Configuration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0" y="91440"/>
            <a:ext cx="1371600" cy="411480"/>
          </a:xfrm>
          <a:prstGeom prst="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0" y="91440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Branch C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8600" y="4983480"/>
            <a:ext cx="7315200" cy="160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8CA8"/>
                </a:solidFill>
                <a:latin typeface="Calibri"/>
              </a:rPr>
              <a:t>BIT2154 | Network Design &amp; Architecture | Assignment 2</a:t>
            </a:r>
          </a:p>
        </p:txBody>
      </p:sp>
      <p:pic>
        <p:nvPicPr>
          <p:cNvPr id="9" name="Picture 8" descr="Branch_C_Router_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888" y="742950"/>
            <a:ext cx="7082624" cy="40416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7383" y="4726255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 dirty="0">
                <a:solidFill>
                  <a:srgbClr val="64748B"/>
                </a:solidFill>
                <a:latin typeface="Calibri"/>
              </a:rPr>
              <a:t>Router3 security: enable secret, console password, VTY password (cisco123), banner MOTD 'Unauthorized Access is Prohibited!', service password-encryption.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SECURITY CONFIGURATION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&amp; Switch Security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— Router Running Config (Part 1 &amp; 2)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589520" y="91440"/>
            <a:ext cx="137160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0" y="91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BIT2154 | Network Design &amp; Architecture | Assignment 2</a:t>
            </a:r>
            <a:endParaRPr lang="en-US" sz="900" dirty="0"/>
          </a:p>
        </p:txBody>
      </p:sp>
      <p:pic>
        <p:nvPicPr>
          <p:cNvPr id="9" name="Image 0" descr="/mnt/user-data/uploads/Show_running_config_router_1_part_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160" y="777240"/>
            <a:ext cx="4389120" cy="4023360"/>
          </a:xfrm>
          <a:prstGeom prst="rect">
            <a:avLst/>
          </a:prstGeom>
        </p:spPr>
      </p:pic>
      <p:pic>
        <p:nvPicPr>
          <p:cNvPr id="10" name="Image 1" descr="/mnt/user-data/uploads/Show_running_config_router_1_part_2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17720" y="777240"/>
            <a:ext cx="4389120" cy="40233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0970" y="4747641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password-encryption enabled; enable secret stored as MD5 hash (Type 5)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4617720" y="48646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Subinterface IPs, serial WAN IPs, RIP v2 configuration confirmed in running-config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— Router Running Config (Part 3)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589520" y="91440"/>
            <a:ext cx="137160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0" y="91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BIT2154 | Network Design &amp; Architecture | Assignment 2</a:t>
            </a:r>
            <a:endParaRPr lang="en-US" sz="900" dirty="0"/>
          </a:p>
        </p:txBody>
      </p:sp>
      <p:pic>
        <p:nvPicPr>
          <p:cNvPr id="9" name="Image 0" descr="/mnt/user-data/uploads/Show_running_config_router_1_part_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777240"/>
            <a:ext cx="7579995" cy="4023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28600" y="48006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MOTD: 'Unauthorized Access is Prohibited!'; line con 0 &amp; line vty 0 4 passwords encrypted (Type 7); login required.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— Switch Port Security on a Random Switch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589520" y="91440"/>
            <a:ext cx="137160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0" y="91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BIT2154 | Network Design &amp; Architecture | Assignment 2</a:t>
            </a:r>
            <a:endParaRPr lang="en-US" sz="900" dirty="0"/>
          </a:p>
        </p:txBody>
      </p:sp>
      <p:pic>
        <p:nvPicPr>
          <p:cNvPr id="9" name="Image 0" descr="/mnt/user-data/uploads/Random_Branch_A_Star_switch_Port_Securit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777240"/>
            <a:ext cx="7406640" cy="4023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28600" y="48006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port-security: MaxSecureAddr=1, SecurityViolation=Restrict on Fa0/1, Fa1/1, Fa2/1, Fa3/1. Sticky MAC learning active.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 TESTING &amp; VERIFICATION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Tests, Routing Tables &amp; VLAN Tables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— Inter-Branch Ping (Branch A → B &amp; A → C)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589520" y="91440"/>
            <a:ext cx="137160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0" y="91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BIT2154 | Network Design &amp; Architecture | Assignment 2</a:t>
            </a:r>
            <a:endParaRPr lang="en-US" sz="900" dirty="0"/>
          </a:p>
        </p:txBody>
      </p:sp>
      <p:pic>
        <p:nvPicPr>
          <p:cNvPr id="9" name="Image 0" descr="/mnt/user-data/uploads/Branch_A_router_to_Branch_B_router_Pin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160" y="1015365"/>
            <a:ext cx="4389120" cy="2952496"/>
          </a:xfrm>
          <a:prstGeom prst="rect">
            <a:avLst/>
          </a:prstGeom>
        </p:spPr>
      </p:pic>
      <p:pic>
        <p:nvPicPr>
          <p:cNvPr id="10" name="Image 1" descr="/mnt/user-data/uploads/Branch_A_router_to_Branch_C_router_Ping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17720" y="1015365"/>
            <a:ext cx="4389120" cy="29524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6210" y="4086733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Router1 (Branch A) → Router2 (Branch B): ICMP Successful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617720" y="4086733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Router1 (Branch A) → Router3 (Branch C): ICMP Successful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— Inter-Branch Ping (Branch B → C)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589520" y="91440"/>
            <a:ext cx="137160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0" y="91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BIT2154 | Network Design &amp; Architecture | Assignment 2</a:t>
            </a:r>
            <a:endParaRPr lang="en-US" sz="900" dirty="0"/>
          </a:p>
        </p:txBody>
      </p:sp>
      <p:pic>
        <p:nvPicPr>
          <p:cNvPr id="9" name="Image 0" descr="/mnt/user-data/uploads/Branch_B_router_to_Branch_C_router_Pin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5290" y="685800"/>
            <a:ext cx="8313420" cy="381031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33375" y="4648359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Router2 (Branch B) → Router3 (Branch C): ICMP Successful — All 3 branches fully interconnected via RIP v2.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— Inter-VLAN: Branch A (PC → Server &amp; PC → Wireless)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589520" y="91440"/>
            <a:ext cx="137160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0" y="91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BIT2154 | Network Design &amp; Architecture | Assignment 2</a:t>
            </a:r>
            <a:endParaRPr lang="en-US" sz="900" dirty="0"/>
          </a:p>
        </p:txBody>
      </p:sp>
      <p:pic>
        <p:nvPicPr>
          <p:cNvPr id="9" name="Image 0" descr="/mnt/user-data/uploads/Branch_A_PC_to_Server_Pin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160" y="1205865"/>
            <a:ext cx="4389120" cy="2777871"/>
          </a:xfrm>
          <a:prstGeom prst="rect">
            <a:avLst/>
          </a:prstGeom>
        </p:spPr>
      </p:pic>
      <p:pic>
        <p:nvPicPr>
          <p:cNvPr id="10" name="Image 1" descr="/mnt/user-data/uploads/Branch_A_PC_to_Wireless_Ping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17722" y="1164526"/>
            <a:ext cx="4389120" cy="277787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" y="42169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Branch A: PC7 (VLAN 10) → Server0 (VLAN 20): Successful — Inter-VLAN routing working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617722" y="4175569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Branch A: PC1 (VLAN 10) → Tablet PC0 (VLAN 30): Successful — Wi-Fi VLAN reachable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— Inter-VLAN: Branch B (PC → Server &amp; PC → Wireless)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589520" y="91440"/>
            <a:ext cx="137160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0" y="91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BIT2154 | Network Design &amp; Architecture | Assignment 2</a:t>
            </a:r>
            <a:endParaRPr lang="en-US" sz="900" dirty="0"/>
          </a:p>
        </p:txBody>
      </p:sp>
      <p:pic>
        <p:nvPicPr>
          <p:cNvPr id="9" name="Image 0" descr="/mnt/user-data/uploads/Branch_B_PC_to_Server_Pin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160" y="777240"/>
            <a:ext cx="4389120" cy="3489960"/>
          </a:xfrm>
          <a:prstGeom prst="rect">
            <a:avLst/>
          </a:prstGeom>
        </p:spPr>
      </p:pic>
      <p:pic>
        <p:nvPicPr>
          <p:cNvPr id="10" name="Image 1" descr="/mnt/user-data/uploads/Branch_B_PC_to_Wireless_Ping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17720" y="777240"/>
            <a:ext cx="4389120" cy="34899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" y="440664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Branch B: PC15 (VLAN 10) → Server2 (VLAN 20): Successful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617720" y="4429506"/>
            <a:ext cx="43434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Branch B: PC11 (VLAN 10) → Smartphone1 (VLAN 30): Successful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— Inter-VLAN: Branch C (PC → Server &amp; PC → Wireless)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589520" y="91440"/>
            <a:ext cx="137160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0" y="91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BIT2154 | Network Design &amp; Architecture | Assignment 2</a:t>
            </a:r>
            <a:endParaRPr lang="en-US" sz="900" dirty="0"/>
          </a:p>
        </p:txBody>
      </p:sp>
      <p:pic>
        <p:nvPicPr>
          <p:cNvPr id="9" name="Image 0" descr="/mnt/user-data/uploads/Branch_C_PC_to_Server_Pin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160" y="777240"/>
            <a:ext cx="4389120" cy="3216021"/>
          </a:xfrm>
          <a:prstGeom prst="rect">
            <a:avLst/>
          </a:prstGeom>
        </p:spPr>
      </p:pic>
      <p:pic>
        <p:nvPicPr>
          <p:cNvPr id="10" name="Image 1" descr="/mnt/user-data/uploads/Branch_C_PC_to_Wireless_Ping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17720" y="777240"/>
            <a:ext cx="4389120" cy="321602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" y="412318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Branch C: PC7(1) (VLAN 10) → Server1 (VLAN 20): Successful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617720" y="4121277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Branch C: PC21 (VLAN 10) → Laptop2 (VLAN 30): Successful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— Routing Table: Branch A (Router1)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589520" y="91440"/>
            <a:ext cx="137160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0" y="91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BIT2154 | Network Design &amp; Architecture | Assignment 2</a:t>
            </a:r>
            <a:endParaRPr lang="en-US" sz="900" dirty="0"/>
          </a:p>
        </p:txBody>
      </p:sp>
      <p:pic>
        <p:nvPicPr>
          <p:cNvPr id="9" name="Image 0" descr="/mnt/user-data/uploads/Branch_A_Rout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160" y="777240"/>
            <a:ext cx="4206240" cy="3982593"/>
          </a:xfrm>
          <a:prstGeom prst="rect">
            <a:avLst/>
          </a:prstGeom>
        </p:spPr>
      </p:pic>
      <p:pic>
        <p:nvPicPr>
          <p:cNvPr id="10" name="Image 1" descr="/mnt/user-data/uploads/Branch_B_Router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17720" y="777240"/>
            <a:ext cx="4206240" cy="39825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5260" y="47503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Router1: C=directly connected (own VLANs + WAN); R=RIP routes to Branch B (192.168.20.x) &amp; C (192.168.30.x) via serial links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4665345" y="4740783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Router2: C=directly connected (own VLANs + WAN); R=RIP routes to Branch A (192.168.10.x) &amp; C (192.168.30.x)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— Routing Table: Branch C (Router3)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589520" y="91440"/>
            <a:ext cx="137160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0" y="91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BIT2154 | Network Design &amp; Architecture | Assignment 2</a:t>
            </a:r>
            <a:endParaRPr lang="en-US" sz="900" dirty="0"/>
          </a:p>
        </p:txBody>
      </p:sp>
      <p:pic>
        <p:nvPicPr>
          <p:cNvPr id="9" name="Image 0" descr="/mnt/user-data/uploads/Branch_C_Rout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3140" y="713232"/>
            <a:ext cx="6243320" cy="4023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76300" y="477316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Router3: C=directly connected (192.168.30.x VLANs + WAN links); R=RIP learned routes to Branch A (192.168.10.x) &amp; Branch B (192.168.20.x).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— VLAN Table: Branch A &amp; Branch B Main Switches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589520" y="91440"/>
            <a:ext cx="137160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0" y="91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BIT2154 | Network Design &amp; Architecture | Assignment 2</a:t>
            </a:r>
            <a:endParaRPr lang="en-US" sz="900" dirty="0"/>
          </a:p>
        </p:txBody>
      </p:sp>
      <p:pic>
        <p:nvPicPr>
          <p:cNvPr id="9" name="Image 0" descr="/mnt/user-data/uploads/Branch_A_Main_Switch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160" y="777240"/>
            <a:ext cx="4389120" cy="4023360"/>
          </a:xfrm>
          <a:prstGeom prst="rect">
            <a:avLst/>
          </a:prstGeom>
        </p:spPr>
      </p:pic>
      <p:pic>
        <p:nvPicPr>
          <p:cNvPr id="10" name="Image 1" descr="/mnt/user-data/uploads/Branch_B_Main_Switch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17720" y="777240"/>
            <a:ext cx="4389120" cy="40233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" y="480060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A Main Switch: VLAN 10 (fa3/1), VLAN 30 (fa1/1) active; fa0/1 &amp; fa4/1 as trunk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4617720" y="480060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B Main Switch: VLAN 10, 20, 30 created; fa2/1=VLAN30 (Access Point) active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— VLAN Table: Branch C Main Switch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589520" y="91440"/>
            <a:ext cx="137160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0" y="91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BIT2154 | Network Design &amp; Architecture | Assignment 2</a:t>
            </a:r>
            <a:endParaRPr lang="en-US" sz="900" dirty="0"/>
          </a:p>
        </p:txBody>
      </p:sp>
      <p:pic>
        <p:nvPicPr>
          <p:cNvPr id="9" name="Image 0" descr="/mnt/user-data/uploads/Branch_C_Main_Switch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4340" y="713232"/>
            <a:ext cx="7360920" cy="4023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472821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C Main Switch: VLAN 10 (fa3/1 active), VLAN 20, VLAN 30 (fa6/1 active) all confirmed present. Trunk ports correctly configured.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 CONCLUSION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Reflection</a:t>
            </a:r>
            <a:endParaRPr lang="en-US" sz="1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589520" y="91440"/>
            <a:ext cx="137160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0" y="91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BIT2154 | Network Design &amp; Architecture | Assignment 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2880" y="777240"/>
            <a:ext cx="41605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777240"/>
            <a:ext cx="41605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777240"/>
            <a:ext cx="64008" cy="4069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777240"/>
            <a:ext cx="64008" cy="4069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68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" y="1298448"/>
            <a:ext cx="3794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branches</a:t>
            </a: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successfully implemented in Cisco PT
</a:t>
            </a: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VLAN 10/20/30</a:t>
            </a: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correctly segmenting PCs, Servers, and Wi-Fi users
</a:t>
            </a: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Inter-VLAN routing</a:t>
            </a: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via Router-on-a-Stick (dot1Q) working across all branches
</a:t>
            </a: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RIP Version 2</a:t>
            </a: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enabling full inter-branch connectivity
</a:t>
            </a: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Security measures</a:t>
            </a: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applied: encrypted passwords, banner, port security, unused port shutdown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868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00600" y="1298448"/>
            <a:ext cx="3794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assignment deepened understanding of real-world network implementation. </a:t>
            </a: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lessons learned:
Subnetting</a:t>
            </a: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requires careful planning to avoid overlapping networks across VLANs and branches.
</a:t>
            </a: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Trunk vs Access ports</a:t>
            </a: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misconfigurations (Native VLAN mismatch) cause connectivity issues and must be resolved.
</a:t>
            </a: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 v2 with no auto-summary</a:t>
            </a: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essential for classless routing in a multi-subnet environment.
</a:t>
            </a: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not optional — even basic configurations like port security and password encryption significantly harden the network.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594360" y="2560320"/>
            <a:ext cx="77724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6974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Design &amp; Architecture </a:t>
            </a:r>
            <a:r>
              <a:rPr lang="en-US" sz="140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BIT2154 </a:t>
            </a:r>
            <a:r>
              <a:rPr lang="en-US" sz="14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Assignment 2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2026 Semester | SEGi University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2283</Words>
  <Application>Microsoft Office PowerPoint</Application>
  <PresentationFormat>On-screen Show (16:9)</PresentationFormat>
  <Paragraphs>329</Paragraphs>
  <Slides>42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Design &amp; Architecture - Assignment 2</dc:title>
  <dc:subject>PptxGenJS Presentation</dc:subject>
  <dc:creator>PptxGenJS</dc:creator>
  <cp:lastModifiedBy>Takrim Noor Hamim</cp:lastModifiedBy>
  <cp:revision>6</cp:revision>
  <dcterms:created xsi:type="dcterms:W3CDTF">2026-03-18T15:47:23Z</dcterms:created>
  <dcterms:modified xsi:type="dcterms:W3CDTF">2026-03-18T18:13:39Z</dcterms:modified>
</cp:coreProperties>
</file>